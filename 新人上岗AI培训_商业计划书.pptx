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Arial"/>
              </a:rPr>
              <a:t>季度收入预测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预计收入（万元）</c:v>
                </c:pt>
              </c:strCache>
            </c:strRef>
          </c:tx>
          <c:spPr>
            <a:solidFill>
              <a:srgbClr val="0D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18</c:v>
                </c:pt>
                <c:pt idx="3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Arial"/>
              </a:rPr>
              <a:t>客户增长预测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累计客户数</c:v>
                </c:pt>
              </c:strCache>
            </c:strRef>
          </c:tx>
          <c:spPr>
            <a:solidFill>
              <a:srgbClr val="1DD1A1"/>
            </a:solidFill>
            <a:ln w="38100" cap="flat">
              <a:solidFill>
                <a:srgbClr val="1DD1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D1A1"/>
              </a:solidFill>
              <a:ln w="9525" cap="flat">
                <a:solidFill>
                  <a:srgbClr val="1DD1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6E6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DD1A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14A3A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新人上岗AI培训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D1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让新人一周上岗，老员工少回答80%重复问题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6E6E"/>
                </a:solidFill>
              </a:rPr>
              <a:t>80%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重复问题减少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6E6E"/>
                </a:solidFill>
              </a:rPr>
              <a:t>1周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新人上手周期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6E6E"/>
                </a:solidFill>
              </a:rPr>
              <a:t>3-5家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种子客户验证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我们解决的问题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中小企业新人培训效率低下：老员工被重复问题占用大量时间，新人需要3-6个月才能独立上岗。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基于RAG技术的AI问答系统，让新人随时查询公司知识库，自助解决80%常见问题，老员工专注核心业务。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RAG技术成熟、FastGPT/Dify开源框架可用、长沙政策支持本土SaaS、大厂忽视中小企业市场——这是进入细分市场的最佳时机。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市场痛点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1DD1A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8046720" cy="1097280"/>
          </a:xfrm>
          <a:prstGeom prst="rect">
            <a:avLst/>
          </a:prstGeom>
          <a:solidFill>
            <a:srgbClr val="E8F6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老员工精力被消耗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6002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新人反复问相同问题，老员工每天花1-2小时回答基础问题，无法专注核心工作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1DD1A1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377440"/>
            <a:ext cx="8046720" cy="1097280"/>
          </a:xfrm>
          <a:prstGeom prst="rect">
            <a:avLst/>
          </a:prstGeom>
          <a:solidFill>
            <a:srgbClr val="E8F6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新人上手周期长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2880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传统培训+师徒制，新人需要3-6个月才能独立工作，企业人力成本高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1DD1A1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3657600"/>
            <a:ext cx="8046720" cy="1097280"/>
          </a:xfrm>
          <a:prstGeom prst="rect">
            <a:avLst/>
          </a:prstGeom>
          <a:solidFill>
            <a:srgbClr val="E8F6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知识传递效率低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160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老员工离职带走经验，新人培训全靠口口相传，知识断层严重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A3D3D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「每个公司都有新人培训问题，这个痛点老板和HR都愿意花钱解决」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解决方案：AI知识库问答系统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DD1A1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3D"/>
                </a:solidFill>
              </a:rPr>
              <a:t>帮企业搭建专属AI知识库 → 新人随时自助查询 → 老员工减少80%重复答疑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2103120"/>
            <a:ext cx="457200" cy="45720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D1A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011680" cy="128016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知识库搭建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导入公司文档、流程、制度、FAQ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457200" cy="45720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D1A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51760" y="2697480"/>
            <a:ext cx="2011680" cy="128016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AI训练上线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RAG技术理解上下文，精准回答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2103120"/>
            <a:ext cx="457200" cy="45720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D1A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2011680" cy="128016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新人自助查询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7x24随时问，秒级响应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2103120"/>
            <a:ext cx="457200" cy="45720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40880" y="2697480"/>
            <a:ext cx="2011680" cy="128016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效果闭环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反馈优化，持续学习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技术栈：FastGPT / Dify（开源框架） + 企业私有知识库 + 微信/网页接入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A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D1A1"/>
                </a:solidFill>
              </a:rPr>
              <a:t>核心优势：1-2个月上线  |  按年收费2999元起  |  本地化服务响应快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产品核心功能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rgbClr val="1DD1A1">
              <a:alpha val="7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智能问答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基于RAG技术，理解上下文，精准回答新人各类问题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234440"/>
            <a:ext cx="640080" cy="640080"/>
          </a:xfrm>
          <a:prstGeom prst="ellipse">
            <a:avLst/>
          </a:prstGeom>
          <a:solidFill>
            <a:srgbClr val="1DD1A1">
              <a:alpha val="7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知识库管理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可视化上传、分类、标注企业文档，自动同步更新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1DD1A1">
              <a:alpha val="7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使用分析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" y="3931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统计高频问题、解答满意度，持续优化知识库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rgbClr val="1DD1A1">
              <a:alpha val="7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多端接入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37760" y="3931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网页端、微信企业版、钉钉，随时随地查询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29184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轻量版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E6E"/>
                </a:solidFill>
              </a:rPr>
              <a:t>2999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元/年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适合50人以下企业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基础知识库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100次/天问答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微信接入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3291840"/>
          </a:xfrm>
          <a:prstGeom prst="rect">
            <a:avLst/>
          </a:prstGeom>
          <a:solidFill>
            <a:srgbClr val="1DD1A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743200" cy="4572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推荐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标准版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E6E"/>
                </a:solidFill>
              </a:rPr>
              <a:t>5999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元/年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适合50-200人企业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知识库分析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不限问答次数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多端接入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优先支持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743200" cy="329184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定制版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E6E"/>
                </a:solidFill>
              </a:rPr>
              <a:t>面议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适合200人以上企业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私有化部署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定制开发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专属运维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A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目标客户：50-200人中小企业（制造业、服务业、科技公司）| 长沙本地企业优先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solidFill>
            <a:srgbClr val="E8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对比维度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005840"/>
            <a:ext cx="2926080" cy="365760"/>
          </a:xfrm>
          <a:prstGeom prst="rect">
            <a:avLst/>
          </a:prstGeom>
          <a:solidFill>
            <a:srgbClr val="E8F6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大厂产品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solidFill>
            <a:srgbClr val="1DD1A1">
              <a:alpha val="5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6E6E"/>
                </a:solidFill>
              </a:rPr>
              <a:t>我们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371600"/>
            <a:ext cx="292608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371600"/>
            <a:ext cx="2926080" cy="548640"/>
          </a:xfrm>
          <a:prstGeom prst="rect">
            <a:avLst/>
          </a:prstGeom>
          <a:solidFill>
            <a:srgbClr val="D4F4E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目标客户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500人以上大企业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50-200人中小企业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965960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1965960"/>
            <a:ext cx="2926080" cy="548640"/>
          </a:xfrm>
          <a:prstGeom prst="rect">
            <a:avLst/>
          </a:prstGeom>
          <a:solidFill>
            <a:srgbClr val="E8F9F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服务响应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工单/邮件，1-2天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微信/电话，30分钟内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28600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2560320"/>
            <a:ext cx="292608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2560320"/>
            <a:ext cx="2926080" cy="548640"/>
          </a:xfrm>
          <a:prstGeom prst="rect">
            <a:avLst/>
          </a:prstGeom>
          <a:solidFill>
            <a:srgbClr val="D4F4E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价格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10万+/年起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2999元/年起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3154680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760720" y="3154680"/>
            <a:ext cx="2926080" cy="548640"/>
          </a:xfrm>
          <a:prstGeom prst="rect">
            <a:avLst/>
          </a:prstGeom>
          <a:solidFill>
            <a:srgbClr val="E8F9F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部署周期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1-3个月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1-2周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228600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0" y="3749040"/>
            <a:ext cx="2926080" cy="54864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749040"/>
            <a:ext cx="2926080" cy="548640"/>
          </a:xfrm>
          <a:prstGeom prst="rect">
            <a:avLst/>
          </a:prstGeom>
          <a:solidFill>
            <a:srgbClr val="D4F4E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本地化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长沙本地，上门服务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核心竞争策略：</a:t>
            </a:r>
            <a:pPr indent="0" marL="0">
              <a:buNone/>
            </a:pPr>
            <a:r>
              <a:rPr lang="en-US" sz="1400" dirty="0">
                <a:solidFill>
                  <a:srgbClr val="0D6E6E"/>
                </a:solidFill>
              </a:rPr>
              <a:t>不拼功能、不拼价格，拼本地化服务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「客户有问题你半小时上门，大厂做不到」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MVP落地计划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64008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第1阶段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D1A1"/>
                </a:solidFill>
              </a:rPr>
              <a:t>产品开发 | 1-2月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搭建FastGPT/Dify环境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导入测试知识库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08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核心问答功能开发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74904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微信端接入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6E6E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37560" y="1005840"/>
            <a:ext cx="2743200" cy="365760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7560" y="1005840"/>
            <a:ext cx="2743200" cy="64008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第2阶段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D1A1"/>
                </a:solidFill>
              </a:rPr>
              <a:t>种子客户验证 | 2-4月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182880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找3-5家熟人企业免费试用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46888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收集反馈，优化产品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310896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108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验证「知识库→使用→反馈」闭环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0" y="374904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获取真实效果数据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6E6E"/>
                </a:solidFill>
              </a:rPr>
              <a:t>→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6217920" y="1005840"/>
            <a:ext cx="2743200" cy="365760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1005840"/>
            <a:ext cx="2743200" cy="64008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第3阶段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D1A1"/>
                </a:solidFill>
              </a:rPr>
              <a:t>正式商业化 | 4-6月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182880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推出2999元/年轻量版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246888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目标签约10家付费客户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310896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3108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75120" y="3063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建立客户服务SOP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3749040"/>
            <a:ext cx="228600" cy="2286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3D"/>
                </a:solidFill>
              </a:rPr>
              <a:t>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7512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口碑传播，转介绍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A3D3D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D1A1"/>
                </a:solidFill>
              </a:rPr>
              <a:t>成功标准：老员工答疑时间减少60%+，3个月内签约5家付费客户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37744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技术负责人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FastGPT/Dify部署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知识库RAG开发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系统运维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237744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743200" cy="548640"/>
          </a:xfrm>
          <a:prstGeom prst="rect">
            <a:avLst/>
          </a:prstGeom>
          <a:solidFill>
            <a:srgbClr val="14A3A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开发工程师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前端界面开发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微信/网页接入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功能迭代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743200" cy="2377440"/>
          </a:xfrm>
          <a:prstGeom prst="rect">
            <a:avLst/>
          </a:prstGeom>
          <a:solidFill>
            <a:srgbClr val="E8F6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743200" cy="548640"/>
          </a:xfrm>
          <a:prstGeom prst="rect">
            <a:avLst/>
          </a:prstGeom>
          <a:solidFill>
            <a:srgbClr val="1DD1A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商务/客服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客户开拓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需求对接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售后服务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初期成本预估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人力成本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3人 x 8000/月 x 6月 = 14.4万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云服务器/工具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279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约2000/月 = 1.2万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354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市场/交通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5354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约5000/月 = 3万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91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总计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7914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6E"/>
                </a:solidFill>
              </a:rPr>
              <a:t>约20万（6个月）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023360"/>
            <a:ext cx="2286000" cy="1097280"/>
          </a:xfrm>
          <a:prstGeom prst="rect">
            <a:avLst/>
          </a:prstGeom>
          <a:solidFill>
            <a:srgbClr val="1DD1A1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160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3D3D"/>
                </a:solidFill>
              </a:rPr>
              <a:t>如果种子客户验证成功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3D3D"/>
                </a:solidFill>
              </a:rPr>
              <a:t>预计3-5个月可实现盈亏平衡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财务预测（第一年）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100584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客单价：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7373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6E"/>
                </a:solidFill>
              </a:rPr>
              <a:t>4000元/年（均值）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38328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第1年目标：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4805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6E"/>
                </a:solidFill>
              </a:rPr>
              <a:t>20家客户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2648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预计收入：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2237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6E"/>
                </a:solidFill>
              </a:rPr>
              <a:t>约60万元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成本：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7373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6E"/>
                </a:solidFill>
              </a:rPr>
              <a:t>约40万元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预计利润：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805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6E6E"/>
                </a:solidFill>
              </a:rPr>
              <a:t>约20万元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1DD1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技术门槛降低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大厂可能跟进中小企业市场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1280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D1A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89120" y="1078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D1A1"/>
                </a:solidFill>
              </a:rPr>
              <a:t>对策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37760" y="10789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快速占领本地市场，建立客户粘性，形成口碑壁垒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011680"/>
            <a:ext cx="73152" cy="868680"/>
          </a:xfrm>
          <a:prstGeom prst="rect">
            <a:avLst/>
          </a:prstGeom>
          <a:solidFill>
            <a:srgbClr val="1DD1A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客户付费意愿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9728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中小企业对SaaS付费习惯尚未完全形成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3192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D1A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389120" y="20848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D1A1"/>
                </a:solidFill>
              </a:rPr>
              <a:t>对策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37760" y="208483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免费试用期+效果导向，按效果收费降低客户顾虑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" y="3017520"/>
            <a:ext cx="73152" cy="868680"/>
          </a:xfrm>
          <a:prstGeom prst="rect">
            <a:avLst/>
          </a:prstGeom>
          <a:solidFill>
            <a:srgbClr val="1DD1A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知识库质量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9728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企业知识库不完善，AI回答质量不稳定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931920" y="3291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D1A1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389120" y="3090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D1A1"/>
                </a:solidFill>
              </a:rPr>
              <a:t>对策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37760" y="309067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提供知识库梳理服务，人工+AI双重保障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E8F6F6"/>
          </a:solidFill>
          <a:ln/>
        </p:spPr>
      </p:sp>
      <p:sp>
        <p:nvSpPr>
          <p:cNvPr id="29" name="Shape 2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1DD1A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9728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团队执行力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9728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初期3人团队可能面临精力分散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931920" y="4297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D1A1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4389120" y="4096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D1A1"/>
                </a:solidFill>
              </a:rPr>
              <a:t>对策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937760" y="409651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聚焦核心功能，小步快跑，验证后再扩张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6E6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DD1A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3D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0" cy="274320"/>
          </a:xfrm>
          <a:prstGeom prst="line">
            <a:avLst/>
          </a:prstGeom>
          <a:noFill/>
          <a:ln w="25400">
            <a:solidFill>
              <a:srgbClr val="1DD1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D1A1"/>
                </a:solidFill>
              </a:rPr>
              <a:t>本周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梳理企业内部培训知识库（制度、流程、FAQ）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3D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0" cy="274320"/>
          </a:xfrm>
          <a:prstGeom prst="line">
            <a:avLst/>
          </a:prstGeom>
          <a:noFill/>
          <a:ln w="25400">
            <a:solidFill>
              <a:srgbClr val="1DD1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D1A1"/>
                </a:solidFill>
              </a:rPr>
              <a:t>2周内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完成FastGPT/Dify环境搭建，导入测试数据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3D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" y="3703320"/>
            <a:ext cx="0" cy="274320"/>
          </a:xfrm>
          <a:prstGeom prst="line">
            <a:avLst/>
          </a:prstGeom>
          <a:noFill/>
          <a:ln w="25400">
            <a:solidFill>
              <a:srgbClr val="1DD1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D1A1"/>
                </a:solidFill>
              </a:rPr>
              <a:t>1个月内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找到3家熟人企业，开始免费试用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1DD1A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3D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D1A1"/>
                </a:solidFill>
              </a:rPr>
              <a:t>2个月内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收集反馈，优化产品，准备商业化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DD1A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D1A1"/>
                </a:solidFill>
              </a:rPr>
              <a:t>小步快跑，快速验证！方向对了，利润自然来。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新人上岗AI培训 - 商业计划书</dc:title>
  <dc:subject>PptxGenJS Presentation</dc:subject>
  <dc:creator>AI技能培训企业</dc:creator>
  <cp:lastModifiedBy>AI技能培训企业</cp:lastModifiedBy>
  <cp:revision>1</cp:revision>
  <dcterms:created xsi:type="dcterms:W3CDTF">2026-05-04T14:25:02Z</dcterms:created>
  <dcterms:modified xsi:type="dcterms:W3CDTF">2026-05-04T14:25:02Z</dcterms:modified>
</cp:coreProperties>
</file>